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4" d="100"/>
          <a:sy n="84" d="100"/>
        </p:scale>
        <p:origin x="629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393418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Introduce the project and team. This is a proposed presentation based on the supplied KLH course and team details.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Explain the deadlock scenario in simple terms: every philosopher holds one fork and waits for another. The goal is to prevent the circular-wait pattern.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Point to each philosopher thread and the fork between neighbors. Each fork is protected by a mutex. The semaphore limits entry into fork acquisition.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Explain the flow. A philosopher obtains a semaphore permit before locking forks. With N philosophers and N−1 permits, circular wait is broken.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Describe the tools and the separation between simulation logic and presentation. Do not claim a frontend is integrated until implemented.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These are test criteria, not completed test results. During the live demo, replace or supplement them with actual terminal output and measured results.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Explain that preventing deadlock is not the same as guaranteeing fairness. Future work could compare strategies and measure starvation.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Demonstrate the compile/run flow, show real state transitions, and explain why the system remains responsive and exits cleanly.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1A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6903720" y="466344"/>
            <a:ext cx="2743200" cy="2743200"/>
          </a:xfrm>
          <a:prstGeom prst="ellipse">
            <a:avLst/>
          </a:prstGeom>
          <a:solidFill>
            <a:srgbClr val="162A49"/>
          </a:solidFill>
          <a:ln>
            <a:solidFill>
              <a:srgbClr val="162A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Oval 2"/>
          <p:cNvSpPr/>
          <p:nvPr/>
        </p:nvSpPr>
        <p:spPr>
          <a:xfrm>
            <a:off x="7452360" y="1014984"/>
            <a:ext cx="1645920" cy="1645920"/>
          </a:xfrm>
          <a:prstGeom prst="ellipse">
            <a:avLst/>
          </a:prstGeom>
          <a:solidFill>
            <a:srgbClr val="357EE6"/>
          </a:solidFill>
          <a:ln>
            <a:solidFill>
              <a:srgbClr val="357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7909560" y="1472184"/>
            <a:ext cx="731520" cy="731520"/>
          </a:xfrm>
          <a:prstGeom prst="ellipse">
            <a:avLst/>
          </a:prstGeom>
          <a:solidFill>
            <a:srgbClr val="37D3DC"/>
          </a:solidFill>
          <a:ln>
            <a:solidFill>
              <a:srgbClr val="37D3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85800" y="502920"/>
            <a:ext cx="704088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 i="0">
                <a:solidFill>
                  <a:srgbClr val="37D3DC"/>
                </a:solidFill>
                <a:latin typeface="Aptos"/>
              </a:rPr>
              <a:t>HACKATHON PROJECT • OPERATING SYSTEMS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143000"/>
            <a:ext cx="7498079" cy="1600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3400" b="1" i="0">
                <a:solidFill>
                  <a:srgbClr val="F5F8FC"/>
                </a:solidFill>
                <a:latin typeface="Aptos"/>
              </a:rPr>
              <a:t>DINING
PHILOSOPHERS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4088" y="2907792"/>
            <a:ext cx="713232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100" b="1" i="0">
                <a:solidFill>
                  <a:srgbClr val="37D3DC"/>
                </a:solidFill>
                <a:latin typeface="Aptos"/>
              </a:rPr>
              <a:t>DEADLOCK PREVENTION SYSTEM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3566160"/>
            <a:ext cx="6583680" cy="7772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0" i="0">
                <a:solidFill>
                  <a:srgbClr val="ACBCD1"/>
                </a:solidFill>
                <a:latin typeface="Aptos"/>
              </a:rPr>
              <a:t>A concurrent system that demonstrates safe resource sharing using threads, mutexes, and semaphores.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" y="4736592"/>
            <a:ext cx="6675120" cy="1051560"/>
          </a:xfrm>
          <a:prstGeom prst="roundRect">
            <a:avLst/>
          </a:prstGeom>
          <a:solidFill>
            <a:srgbClr val="1B2D48"/>
          </a:solidFill>
          <a:ln>
            <a:solidFill>
              <a:srgbClr val="3C53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14400" y="4901184"/>
            <a:ext cx="630936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 i="0">
                <a:solidFill>
                  <a:srgbClr val="F5F8FC"/>
                </a:solidFill>
                <a:latin typeface="Aptos"/>
              </a:rPr>
              <a:t>Koneru Lakshmaiah Education Foundation (KLH)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5230368"/>
            <a:ext cx="630936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ACBCD1"/>
                </a:solidFill>
                <a:latin typeface="Aptos"/>
              </a:rPr>
              <a:t>Operating Systems and Systems Programming • 25CS2104E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5513832"/>
            <a:ext cx="630936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 i="0">
                <a:solidFill>
                  <a:srgbClr val="37D3DC"/>
                </a:solidFill>
                <a:latin typeface="Aptos"/>
              </a:rPr>
              <a:t>Section 12  |  Team 14  |  2026–27, Term 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09560" y="3703320"/>
            <a:ext cx="329184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 i="0">
                <a:solidFill>
                  <a:srgbClr val="37D3DC"/>
                </a:solidFill>
                <a:latin typeface="Aptos"/>
              </a:rPr>
              <a:t>TEAM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09560" y="4041648"/>
            <a:ext cx="3657600" cy="7315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 i="0">
                <a:solidFill>
                  <a:srgbClr val="F5F8FC"/>
                </a:solidFill>
                <a:latin typeface="Aptos"/>
              </a:rPr>
              <a:t>M. Shiva  •  2520090135
N. Sainath Reddy  •  2520090115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09560" y="5010912"/>
            <a:ext cx="329184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 i="0">
                <a:solidFill>
                  <a:srgbClr val="ACBCD1"/>
                </a:solidFill>
                <a:latin typeface="Aptos"/>
              </a:rPr>
              <a:t>Faculty: M. Raghupathi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6510528"/>
            <a:ext cx="96012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 i="0">
                <a:solidFill>
                  <a:srgbClr val="ACBCD1"/>
                </a:solidFill>
                <a:latin typeface="Aptos"/>
              </a:rPr>
              <a:t>KLH • Operating Systems and Systems Programming • Section 12 | Team 14</a:t>
            </a:r>
          </a:p>
        </p:txBody>
      </p:sp>
      <p:pic>
        <p:nvPicPr>
          <p:cNvPr id="17" name="Picture 16" descr="MAPS &amp; DIRECTIONS - Best Private University in Telangana ...">
            <a:extLst>
              <a:ext uri="{FF2B5EF4-FFF2-40B4-BE49-F238E27FC236}">
                <a16:creationId xmlns:a16="http://schemas.microsoft.com/office/drawing/2014/main" id="{4070C443-034E-D0B8-52DF-4AA1AB7E88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06000" y="0"/>
            <a:ext cx="2286000" cy="14097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1A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92608"/>
            <a:ext cx="77724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 i="0">
                <a:solidFill>
                  <a:srgbClr val="37D3DC"/>
                </a:solidFill>
                <a:latin typeface="Aptos"/>
              </a:rPr>
              <a:t>PROBLEM STATEMENT &amp; OBJECTIVES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658368"/>
            <a:ext cx="914400" cy="41148"/>
          </a:xfrm>
          <a:prstGeom prst="rect">
            <a:avLst/>
          </a:prstGeom>
          <a:solidFill>
            <a:srgbClr val="357EE6"/>
          </a:solidFill>
          <a:ln>
            <a:solidFill>
              <a:srgbClr val="357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109960" y="274320"/>
            <a:ext cx="5029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1100" b="1" i="0">
                <a:solidFill>
                  <a:srgbClr val="ACBCD1"/>
                </a:solidFill>
                <a:latin typeface="Aptos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005840"/>
            <a:ext cx="36576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 i="0">
                <a:solidFill>
                  <a:srgbClr val="FFBE4B"/>
                </a:solidFill>
                <a:latin typeface="Aptos"/>
              </a:rPr>
              <a:t>THE CHALLENGE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389888"/>
            <a:ext cx="4754880" cy="8229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300" b="1" i="0">
                <a:solidFill>
                  <a:srgbClr val="F5F8FC"/>
                </a:solidFill>
                <a:latin typeface="Aptos"/>
              </a:rPr>
              <a:t>Five philosophers share five forks. Each needs two adjacent forks to eat.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395728"/>
            <a:ext cx="4754880" cy="10058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0" i="0">
                <a:solidFill>
                  <a:srgbClr val="ACBCD1"/>
                </a:solidFill>
                <a:latin typeface="Aptos"/>
              </a:rPr>
              <a:t>If every philosopher holds one fork and waits for the next, everyone can wait forever: a deadlock.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897880" y="1051560"/>
            <a:ext cx="5394960" cy="1024128"/>
          </a:xfrm>
          <a:prstGeom prst="roundRect">
            <a:avLst/>
          </a:prstGeom>
          <a:solidFill>
            <a:srgbClr val="1B2D48"/>
          </a:solidFill>
          <a:ln>
            <a:solidFill>
              <a:srgbClr val="3C53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897880" y="1051560"/>
            <a:ext cx="64008" cy="1024128"/>
          </a:xfrm>
          <a:prstGeom prst="rect">
            <a:avLst/>
          </a:prstGeom>
          <a:solidFill>
            <a:srgbClr val="357EE6"/>
          </a:solidFill>
          <a:ln>
            <a:solidFill>
              <a:srgbClr val="357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099048" y="1197863"/>
            <a:ext cx="5047488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 i="0">
                <a:solidFill>
                  <a:srgbClr val="F5F8FC"/>
                </a:solidFill>
                <a:latin typeface="Aptos"/>
              </a:rPr>
              <a:t>01  Prevent deadlock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9048" y="1618488"/>
            <a:ext cx="5010912" cy="32918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 i="0">
                <a:solidFill>
                  <a:srgbClr val="ACBCD1"/>
                </a:solidFill>
                <a:latin typeface="Aptos"/>
              </a:rPr>
              <a:t>Break the circular-wait condition with a controlled entry rule.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897880" y="2304288"/>
            <a:ext cx="5394960" cy="1024128"/>
          </a:xfrm>
          <a:prstGeom prst="roundRect">
            <a:avLst/>
          </a:prstGeom>
          <a:solidFill>
            <a:srgbClr val="1B2D48"/>
          </a:solidFill>
          <a:ln>
            <a:solidFill>
              <a:srgbClr val="3C53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5897880" y="2304288"/>
            <a:ext cx="64008" cy="1024128"/>
          </a:xfrm>
          <a:prstGeom prst="rect">
            <a:avLst/>
          </a:prstGeom>
          <a:solidFill>
            <a:srgbClr val="37D3DC"/>
          </a:solidFill>
          <a:ln>
            <a:solidFill>
              <a:srgbClr val="37D3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099048" y="2450592"/>
            <a:ext cx="5047488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 i="0">
                <a:solidFill>
                  <a:srgbClr val="F5F8FC"/>
                </a:solidFill>
                <a:latin typeface="Aptos"/>
              </a:rPr>
              <a:t>02  Protect shared forks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99048" y="2871216"/>
            <a:ext cx="5010912" cy="32918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 i="0">
                <a:solidFill>
                  <a:srgbClr val="ACBCD1"/>
                </a:solidFill>
                <a:latin typeface="Aptos"/>
              </a:rPr>
              <a:t>Use mutex locks so one fork cannot be used by two philosophers at once.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897880" y="3557016"/>
            <a:ext cx="5394960" cy="1024128"/>
          </a:xfrm>
          <a:prstGeom prst="roundRect">
            <a:avLst/>
          </a:prstGeom>
          <a:solidFill>
            <a:srgbClr val="1B2D48"/>
          </a:solidFill>
          <a:ln>
            <a:solidFill>
              <a:srgbClr val="3C53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5897880" y="3557016"/>
            <a:ext cx="64008" cy="1024128"/>
          </a:xfrm>
          <a:prstGeom prst="rect">
            <a:avLst/>
          </a:prstGeom>
          <a:solidFill>
            <a:srgbClr val="3ACB8C"/>
          </a:solidFill>
          <a:ln>
            <a:solidFill>
              <a:srgbClr val="3ACB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099048" y="3703320"/>
            <a:ext cx="5047488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 i="0">
                <a:solidFill>
                  <a:srgbClr val="F5F8FC"/>
                </a:solidFill>
                <a:latin typeface="Aptos"/>
              </a:rPr>
              <a:t>03  Make concurrency visible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99048" y="4123944"/>
            <a:ext cx="5010912" cy="32918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 i="0">
                <a:solidFill>
                  <a:srgbClr val="ACBCD1"/>
                </a:solidFill>
                <a:latin typeface="Aptos"/>
              </a:rPr>
              <a:t>Show thinking, waiting, eating, and resource release as live events.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" y="3886200"/>
            <a:ext cx="4754880" cy="1234440"/>
          </a:xfrm>
          <a:prstGeom prst="roundRect">
            <a:avLst/>
          </a:prstGeom>
          <a:solidFill>
            <a:srgbClr val="162A49"/>
          </a:solidFill>
          <a:ln>
            <a:solidFill>
              <a:srgbClr val="3C53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14400" y="4096512"/>
            <a:ext cx="18288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 i="0">
                <a:solidFill>
                  <a:srgbClr val="37D3DC"/>
                </a:solidFill>
                <a:latin typeface="Aptos"/>
              </a:rPr>
              <a:t>PROJECT GOAL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4416552"/>
            <a:ext cx="416052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 i="0">
                <a:solidFill>
                  <a:srgbClr val="F5F8FC"/>
                </a:solidFill>
                <a:latin typeface="Aptos"/>
              </a:rPr>
              <a:t>Build a working simulation that makes an abstract OS problem easy to observe, test, and explain.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3232" y="5577840"/>
            <a:ext cx="1042416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 i="0">
                <a:solidFill>
                  <a:srgbClr val="FFBE4B"/>
                </a:solidFill>
                <a:latin typeface="Aptos"/>
              </a:rPr>
              <a:t>Key idea: prevent the unsafe resource-allocation pattern before a deadlock forms.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" y="6510528"/>
            <a:ext cx="96012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 i="0">
                <a:solidFill>
                  <a:srgbClr val="ACBCD1"/>
                </a:solidFill>
                <a:latin typeface="Aptos"/>
              </a:rPr>
              <a:t>KLH • Operating Systems and Systems Programming • Section 12 | Team 14</a:t>
            </a:r>
          </a:p>
        </p:txBody>
      </p:sp>
      <p:pic>
        <p:nvPicPr>
          <p:cNvPr id="26" name="Picture 25" descr="MAPS &amp; DIRECTIONS - Best Private University in Telangana ...">
            <a:extLst>
              <a:ext uri="{FF2B5EF4-FFF2-40B4-BE49-F238E27FC236}">
                <a16:creationId xmlns:a16="http://schemas.microsoft.com/office/drawing/2014/main" id="{FF5B3857-D9CC-81B2-B4CD-6A74A1F779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33888" y="0"/>
            <a:ext cx="1658112" cy="1022503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1A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92608"/>
            <a:ext cx="77724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 i="0">
                <a:solidFill>
                  <a:srgbClr val="37D3DC"/>
                </a:solidFill>
                <a:latin typeface="Aptos"/>
              </a:rPr>
              <a:t>SYSTEM DESIGN: SHARED TABLE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658368"/>
            <a:ext cx="914400" cy="41148"/>
          </a:xfrm>
          <a:prstGeom prst="rect">
            <a:avLst/>
          </a:prstGeom>
          <a:solidFill>
            <a:srgbClr val="357EE6"/>
          </a:solidFill>
          <a:ln>
            <a:solidFill>
              <a:srgbClr val="357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109960" y="274320"/>
            <a:ext cx="5029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1100" b="1" i="0">
                <a:solidFill>
                  <a:srgbClr val="ACBCD1"/>
                </a:solidFill>
                <a:latin typeface="Aptos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905256"/>
            <a:ext cx="105156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1" i="0">
                <a:solidFill>
                  <a:srgbClr val="F5F8FC"/>
                </a:solidFill>
                <a:latin typeface="Aptos"/>
              </a:rPr>
              <a:t>Five threads • Five mutex-protected forks • One N−1 counting semaphore</a:t>
            </a:r>
          </a:p>
        </p:txBody>
      </p:sp>
      <p:sp>
        <p:nvSpPr>
          <p:cNvPr id="6" name="Oval 5"/>
          <p:cNvSpPr/>
          <p:nvPr/>
        </p:nvSpPr>
        <p:spPr>
          <a:xfrm>
            <a:off x="2240280" y="2286000"/>
            <a:ext cx="2834640" cy="2834640"/>
          </a:xfrm>
          <a:prstGeom prst="ellipse">
            <a:avLst/>
          </a:prstGeom>
          <a:solidFill>
            <a:srgbClr val="162A49"/>
          </a:solidFill>
          <a:ln>
            <a:solidFill>
              <a:srgbClr val="3C53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999232" y="3319272"/>
            <a:ext cx="1316736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 i="0">
                <a:solidFill>
                  <a:srgbClr val="F5F8FC"/>
                </a:solidFill>
                <a:latin typeface="Aptos"/>
              </a:rPr>
              <a:t>SHARED
TABLE</a:t>
            </a:r>
          </a:p>
        </p:txBody>
      </p:sp>
      <p:sp>
        <p:nvSpPr>
          <p:cNvPr id="8" name="Oval 7"/>
          <p:cNvSpPr/>
          <p:nvPr/>
        </p:nvSpPr>
        <p:spPr>
          <a:xfrm>
            <a:off x="3246120" y="1481328"/>
            <a:ext cx="822960" cy="694944"/>
          </a:xfrm>
          <a:prstGeom prst="ellipse">
            <a:avLst/>
          </a:prstGeom>
          <a:solidFill>
            <a:srgbClr val="357EE6"/>
          </a:solidFill>
          <a:ln>
            <a:solidFill>
              <a:srgbClr val="37D3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328416" y="1719072"/>
            <a:ext cx="658368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300" b="1" i="0">
                <a:solidFill>
                  <a:srgbClr val="F5F8FC"/>
                </a:solidFill>
                <a:latin typeface="Aptos"/>
              </a:rPr>
              <a:t>P1</a:t>
            </a:r>
          </a:p>
        </p:txBody>
      </p:sp>
      <p:sp>
        <p:nvSpPr>
          <p:cNvPr id="10" name="Oval 9"/>
          <p:cNvSpPr/>
          <p:nvPr/>
        </p:nvSpPr>
        <p:spPr>
          <a:xfrm>
            <a:off x="5202823" y="2776589"/>
            <a:ext cx="822960" cy="694944"/>
          </a:xfrm>
          <a:prstGeom prst="ellipse">
            <a:avLst/>
          </a:prstGeom>
          <a:solidFill>
            <a:srgbClr val="357EE6"/>
          </a:solidFill>
          <a:ln>
            <a:solidFill>
              <a:srgbClr val="37D3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285119" y="3014333"/>
            <a:ext cx="658368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300" b="1" i="0">
                <a:solidFill>
                  <a:srgbClr val="F5F8FC"/>
                </a:solidFill>
                <a:latin typeface="Aptos"/>
              </a:rPr>
              <a:t>P2</a:t>
            </a:r>
          </a:p>
        </p:txBody>
      </p:sp>
      <p:sp>
        <p:nvSpPr>
          <p:cNvPr id="12" name="Oval 11"/>
          <p:cNvSpPr/>
          <p:nvPr/>
        </p:nvSpPr>
        <p:spPr>
          <a:xfrm>
            <a:off x="4455429" y="4872366"/>
            <a:ext cx="822960" cy="694944"/>
          </a:xfrm>
          <a:prstGeom prst="ellipse">
            <a:avLst/>
          </a:prstGeom>
          <a:solidFill>
            <a:srgbClr val="357EE6"/>
          </a:solidFill>
          <a:ln>
            <a:solidFill>
              <a:srgbClr val="37D3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37725" y="5110110"/>
            <a:ext cx="658368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300" b="1" i="0">
                <a:solidFill>
                  <a:srgbClr val="F5F8FC"/>
                </a:solidFill>
                <a:latin typeface="Aptos"/>
              </a:rPr>
              <a:t>P3</a:t>
            </a:r>
          </a:p>
        </p:txBody>
      </p:sp>
      <p:sp>
        <p:nvSpPr>
          <p:cNvPr id="14" name="Oval 13"/>
          <p:cNvSpPr/>
          <p:nvPr/>
        </p:nvSpPr>
        <p:spPr>
          <a:xfrm>
            <a:off x="2036810" y="4872366"/>
            <a:ext cx="822960" cy="694944"/>
          </a:xfrm>
          <a:prstGeom prst="ellipse">
            <a:avLst/>
          </a:prstGeom>
          <a:solidFill>
            <a:srgbClr val="357EE6"/>
          </a:solidFill>
          <a:ln>
            <a:solidFill>
              <a:srgbClr val="37D3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2119106" y="5110110"/>
            <a:ext cx="658368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300" b="1" i="0">
                <a:solidFill>
                  <a:srgbClr val="F5F8FC"/>
                </a:solidFill>
                <a:latin typeface="Aptos"/>
              </a:rPr>
              <a:t>P4</a:t>
            </a:r>
          </a:p>
        </p:txBody>
      </p:sp>
      <p:sp>
        <p:nvSpPr>
          <p:cNvPr id="16" name="Oval 15"/>
          <p:cNvSpPr/>
          <p:nvPr/>
        </p:nvSpPr>
        <p:spPr>
          <a:xfrm>
            <a:off x="1289416" y="2776589"/>
            <a:ext cx="822960" cy="694944"/>
          </a:xfrm>
          <a:prstGeom prst="ellipse">
            <a:avLst/>
          </a:prstGeom>
          <a:solidFill>
            <a:srgbClr val="357EE6"/>
          </a:solidFill>
          <a:ln>
            <a:solidFill>
              <a:srgbClr val="37D3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371712" y="3014333"/>
            <a:ext cx="658368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300" b="1" i="0">
                <a:solidFill>
                  <a:srgbClr val="F5F8FC"/>
                </a:solidFill>
                <a:latin typeface="Aptos"/>
              </a:rPr>
              <a:t>P5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26223" y="2275262"/>
            <a:ext cx="219456" cy="402336"/>
          </a:xfrm>
          <a:prstGeom prst="roundRect">
            <a:avLst/>
          </a:prstGeom>
          <a:solidFill>
            <a:srgbClr val="FFBE4B"/>
          </a:solidFill>
          <a:ln>
            <a:solidFill>
              <a:srgbClr val="FFBE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407351" y="2659310"/>
            <a:ext cx="45720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900" b="1" i="0">
                <a:solidFill>
                  <a:srgbClr val="FFBE4B"/>
                </a:solidFill>
                <a:latin typeface="Aptos"/>
              </a:rPr>
              <a:t>F1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130878" y="3970782"/>
            <a:ext cx="219456" cy="402336"/>
          </a:xfrm>
          <a:prstGeom prst="roundRect">
            <a:avLst/>
          </a:prstGeom>
          <a:solidFill>
            <a:srgbClr val="FFBE4B"/>
          </a:solidFill>
          <a:ln>
            <a:solidFill>
              <a:srgbClr val="FFBE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012006" y="4354830"/>
            <a:ext cx="45720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900" b="1" i="0">
                <a:solidFill>
                  <a:srgbClr val="FFBE4B"/>
                </a:solidFill>
                <a:latin typeface="Aptos"/>
              </a:rPr>
              <a:t>F2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547872" y="5018670"/>
            <a:ext cx="219456" cy="402336"/>
          </a:xfrm>
          <a:prstGeom prst="roundRect">
            <a:avLst/>
          </a:prstGeom>
          <a:solidFill>
            <a:srgbClr val="FFBE4B"/>
          </a:solidFill>
          <a:ln>
            <a:solidFill>
              <a:srgbClr val="FFBE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3429000" y="5402718"/>
            <a:ext cx="45720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900" b="1" i="0">
                <a:solidFill>
                  <a:srgbClr val="FFBE4B"/>
                </a:solidFill>
                <a:latin typeface="Aptos"/>
              </a:rPr>
              <a:t>F3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964865" y="3970782"/>
            <a:ext cx="219456" cy="402336"/>
          </a:xfrm>
          <a:prstGeom prst="roundRect">
            <a:avLst/>
          </a:prstGeom>
          <a:solidFill>
            <a:srgbClr val="FFBE4B"/>
          </a:solidFill>
          <a:ln>
            <a:solidFill>
              <a:srgbClr val="FFBE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845993" y="4354830"/>
            <a:ext cx="45720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900" b="1" i="0">
                <a:solidFill>
                  <a:srgbClr val="FFBE4B"/>
                </a:solidFill>
                <a:latin typeface="Aptos"/>
              </a:rPr>
              <a:t>F4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569520" y="2275262"/>
            <a:ext cx="219456" cy="402336"/>
          </a:xfrm>
          <a:prstGeom prst="roundRect">
            <a:avLst/>
          </a:prstGeom>
          <a:solidFill>
            <a:srgbClr val="FFBE4B"/>
          </a:solidFill>
          <a:ln>
            <a:solidFill>
              <a:srgbClr val="FFBE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2450648" y="2659310"/>
            <a:ext cx="45720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900" b="1" i="0">
                <a:solidFill>
                  <a:srgbClr val="FFBE4B"/>
                </a:solidFill>
                <a:latin typeface="Aptos"/>
              </a:rPr>
              <a:t>F5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583680" y="1234440"/>
            <a:ext cx="4663440" cy="1024128"/>
          </a:xfrm>
          <a:prstGeom prst="roundRect">
            <a:avLst/>
          </a:prstGeom>
          <a:solidFill>
            <a:srgbClr val="1B2D48"/>
          </a:solidFill>
          <a:ln>
            <a:solidFill>
              <a:srgbClr val="3C53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6583680" y="1234440"/>
            <a:ext cx="64008" cy="1024128"/>
          </a:xfrm>
          <a:prstGeom prst="rect">
            <a:avLst/>
          </a:prstGeom>
          <a:solidFill>
            <a:srgbClr val="357EE6"/>
          </a:solidFill>
          <a:ln>
            <a:solidFill>
              <a:srgbClr val="357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784848" y="1380744"/>
            <a:ext cx="4315968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 i="0">
                <a:solidFill>
                  <a:srgbClr val="F5F8FC"/>
                </a:solidFill>
                <a:latin typeface="Aptos"/>
              </a:rPr>
              <a:t>Philosopher threads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784848" y="1801368"/>
            <a:ext cx="4279392" cy="32918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 i="0">
                <a:solidFill>
                  <a:srgbClr val="ACBCD1"/>
                </a:solidFill>
                <a:latin typeface="Aptos"/>
              </a:rPr>
              <a:t>Run concurrently and move between THINKING, HUNGRY, and EATING.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583680" y="2487168"/>
            <a:ext cx="4663440" cy="1024128"/>
          </a:xfrm>
          <a:prstGeom prst="roundRect">
            <a:avLst/>
          </a:prstGeom>
          <a:solidFill>
            <a:srgbClr val="1B2D48"/>
          </a:solidFill>
          <a:ln>
            <a:solidFill>
              <a:srgbClr val="3C53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6583680" y="2487168"/>
            <a:ext cx="64008" cy="1024128"/>
          </a:xfrm>
          <a:prstGeom prst="rect">
            <a:avLst/>
          </a:prstGeom>
          <a:solidFill>
            <a:srgbClr val="FFBE4B"/>
          </a:solidFill>
          <a:ln>
            <a:solidFill>
              <a:srgbClr val="FFBE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784848" y="2633472"/>
            <a:ext cx="4315968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 i="0">
                <a:solidFill>
                  <a:srgbClr val="F5F8FC"/>
                </a:solidFill>
                <a:latin typeface="Aptos"/>
              </a:rPr>
              <a:t>Fork mutexes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784848" y="3054096"/>
            <a:ext cx="4279392" cy="32918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 i="0">
                <a:solidFill>
                  <a:srgbClr val="ACBCD1"/>
                </a:solidFill>
                <a:latin typeface="Aptos"/>
              </a:rPr>
              <a:t>Each fork has its own lock to enforce mutual exclusion.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583680" y="3739896"/>
            <a:ext cx="4663440" cy="1024128"/>
          </a:xfrm>
          <a:prstGeom prst="roundRect">
            <a:avLst/>
          </a:prstGeom>
          <a:solidFill>
            <a:srgbClr val="1B2D48"/>
          </a:solidFill>
          <a:ln>
            <a:solidFill>
              <a:srgbClr val="3C53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6583680" y="3739896"/>
            <a:ext cx="64008" cy="1024128"/>
          </a:xfrm>
          <a:prstGeom prst="rect">
            <a:avLst/>
          </a:prstGeom>
          <a:solidFill>
            <a:srgbClr val="3ACB8C"/>
          </a:solidFill>
          <a:ln>
            <a:solidFill>
              <a:srgbClr val="3ACB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6784848" y="3886200"/>
            <a:ext cx="4315968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 i="0">
                <a:solidFill>
                  <a:srgbClr val="F5F8FC"/>
                </a:solidFill>
                <a:latin typeface="Aptos"/>
              </a:rPr>
              <a:t>Semaphore gate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784848" y="4306824"/>
            <a:ext cx="4279392" cy="32918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 i="0">
                <a:solidFill>
                  <a:srgbClr val="ACBCD1"/>
                </a:solidFill>
                <a:latin typeface="Aptos"/>
              </a:rPr>
              <a:t>At most N−1 philosophers compete for forks at once; for N=5, permits=4.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601968" y="5166360"/>
            <a:ext cx="4572000" cy="6400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 i="1">
                <a:solidFill>
                  <a:srgbClr val="ACBCD1"/>
                </a:solidFill>
                <a:latin typeface="Aptos"/>
              </a:rPr>
              <a:t>Diagram is conceptual; the implementation should log real state changes from the C engine.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94360" y="6510528"/>
            <a:ext cx="96012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 i="0">
                <a:solidFill>
                  <a:srgbClr val="ACBCD1"/>
                </a:solidFill>
                <a:latin typeface="Aptos"/>
              </a:rPr>
              <a:t>KLH • Operating Systems and Systems Programming • Section 12 | Team 14</a:t>
            </a:r>
          </a:p>
        </p:txBody>
      </p:sp>
      <p:pic>
        <p:nvPicPr>
          <p:cNvPr id="43" name="Picture 42" descr="MAPS &amp; DIRECTIONS - Best Private University in Telangana ...">
            <a:extLst>
              <a:ext uri="{FF2B5EF4-FFF2-40B4-BE49-F238E27FC236}">
                <a16:creationId xmlns:a16="http://schemas.microsoft.com/office/drawing/2014/main" id="{06AB1944-B8ED-D504-0760-72F0853F0B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68712" y="9144"/>
            <a:ext cx="1923288" cy="118602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1A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92608"/>
            <a:ext cx="77724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 i="0">
                <a:solidFill>
                  <a:srgbClr val="37D3DC"/>
                </a:solidFill>
                <a:latin typeface="Aptos"/>
              </a:rPr>
              <a:t>IMPLEMENTATION APPROACH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658368"/>
            <a:ext cx="914400" cy="41148"/>
          </a:xfrm>
          <a:prstGeom prst="rect">
            <a:avLst/>
          </a:prstGeom>
          <a:solidFill>
            <a:srgbClr val="357EE6"/>
          </a:solidFill>
          <a:ln>
            <a:solidFill>
              <a:srgbClr val="357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109960" y="274320"/>
            <a:ext cx="5029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1100" b="1" i="0">
                <a:solidFill>
                  <a:srgbClr val="ACBCD1"/>
                </a:solidFill>
                <a:latin typeface="Aptos"/>
              </a:rP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960120"/>
            <a:ext cx="43891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 i="0">
                <a:solidFill>
                  <a:srgbClr val="37D3DC"/>
                </a:solidFill>
                <a:latin typeface="Aptos"/>
              </a:rPr>
              <a:t>DEADLOCK PREVENTION FLOW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91640"/>
            <a:ext cx="1901952" cy="1828800"/>
          </a:xfrm>
          <a:prstGeom prst="roundRect">
            <a:avLst/>
          </a:prstGeom>
          <a:solidFill>
            <a:srgbClr val="1B2D48"/>
          </a:solidFill>
          <a:ln>
            <a:solidFill>
              <a:srgbClr val="3C53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877824" y="1847088"/>
            <a:ext cx="411480" cy="411480"/>
          </a:xfrm>
          <a:prstGeom prst="ellipse">
            <a:avLst/>
          </a:prstGeom>
          <a:solidFill>
            <a:srgbClr val="357EE6"/>
          </a:solidFill>
          <a:ln>
            <a:solidFill>
              <a:srgbClr val="357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77824" y="1929384"/>
            <a:ext cx="41148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1" i="0">
                <a:solidFill>
                  <a:srgbClr val="0E1A30"/>
                </a:solidFill>
                <a:latin typeface="Aptos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7824" y="2395728"/>
            <a:ext cx="160020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 i="0">
                <a:solidFill>
                  <a:srgbClr val="F5F8FC"/>
                </a:solidFill>
                <a:latin typeface="Aptos"/>
              </a:rPr>
              <a:t>THINK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7824" y="2788920"/>
            <a:ext cx="1572768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ACBCD1"/>
                </a:solidFill>
                <a:latin typeface="Aptos"/>
              </a:rPr>
              <a:t>Philosopher waits for a random interval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51760" y="2377440"/>
            <a:ext cx="32004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200" b="1" i="0">
                <a:solidFill>
                  <a:srgbClr val="37D3DC"/>
                </a:solidFill>
                <a:latin typeface="Aptos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999232" y="1691640"/>
            <a:ext cx="1901952" cy="1828800"/>
          </a:xfrm>
          <a:prstGeom prst="roundRect">
            <a:avLst/>
          </a:prstGeom>
          <a:solidFill>
            <a:srgbClr val="1B2D48"/>
          </a:solidFill>
          <a:ln>
            <a:solidFill>
              <a:srgbClr val="3C53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3145536" y="1847088"/>
            <a:ext cx="411480" cy="411480"/>
          </a:xfrm>
          <a:prstGeom prst="ellipse">
            <a:avLst/>
          </a:prstGeom>
          <a:solidFill>
            <a:srgbClr val="37D3DC"/>
          </a:solidFill>
          <a:ln>
            <a:solidFill>
              <a:srgbClr val="37D3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145536" y="1929384"/>
            <a:ext cx="41148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1" i="0">
                <a:solidFill>
                  <a:srgbClr val="0E1A30"/>
                </a:solidFill>
                <a:latin typeface="Aptos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45536" y="2395728"/>
            <a:ext cx="160020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 i="0">
                <a:solidFill>
                  <a:srgbClr val="F5F8FC"/>
                </a:solidFill>
                <a:latin typeface="Aptos"/>
              </a:rPr>
              <a:t>ENTER GATE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45536" y="2788920"/>
            <a:ext cx="1572768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ACBCD1"/>
                </a:solidFill>
                <a:latin typeface="Aptos"/>
              </a:rPr>
              <a:t>Acquire one permit from semaphore(N−1)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19472" y="2377440"/>
            <a:ext cx="32004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200" b="1" i="0">
                <a:solidFill>
                  <a:srgbClr val="37D3DC"/>
                </a:solidFill>
                <a:latin typeface="Aptos"/>
              </a:rP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266944" y="1691640"/>
            <a:ext cx="1901952" cy="1828800"/>
          </a:xfrm>
          <a:prstGeom prst="roundRect">
            <a:avLst/>
          </a:prstGeom>
          <a:solidFill>
            <a:srgbClr val="1B2D48"/>
          </a:solidFill>
          <a:ln>
            <a:solidFill>
              <a:srgbClr val="3C53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5413248" y="1847088"/>
            <a:ext cx="411480" cy="411480"/>
          </a:xfrm>
          <a:prstGeom prst="ellipse">
            <a:avLst/>
          </a:prstGeom>
          <a:solidFill>
            <a:srgbClr val="FFBE4B"/>
          </a:solidFill>
          <a:ln>
            <a:solidFill>
              <a:srgbClr val="FFBE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413248" y="1929384"/>
            <a:ext cx="41148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1" i="0">
                <a:solidFill>
                  <a:srgbClr val="0E1A30"/>
                </a:solidFill>
                <a:latin typeface="Aptos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13248" y="2395728"/>
            <a:ext cx="160020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 i="0">
                <a:solidFill>
                  <a:srgbClr val="F5F8FC"/>
                </a:solidFill>
                <a:latin typeface="Aptos"/>
              </a:rPr>
              <a:t>LOCK FORKS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13248" y="2788920"/>
            <a:ext cx="1572768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ACBCD1"/>
                </a:solidFill>
                <a:latin typeface="Aptos"/>
              </a:rPr>
              <a:t>Acquire left and right fork mutexes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87183" y="2377440"/>
            <a:ext cx="32004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200" b="1" i="0">
                <a:solidFill>
                  <a:srgbClr val="37D3DC"/>
                </a:solidFill>
                <a:latin typeface="Aptos"/>
              </a:rPr>
              <a:t>→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534656" y="1691640"/>
            <a:ext cx="1901952" cy="1828800"/>
          </a:xfrm>
          <a:prstGeom prst="roundRect">
            <a:avLst/>
          </a:prstGeom>
          <a:solidFill>
            <a:srgbClr val="1B2D48"/>
          </a:solidFill>
          <a:ln>
            <a:solidFill>
              <a:srgbClr val="3C53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7680960" y="1847088"/>
            <a:ext cx="411480" cy="411480"/>
          </a:xfrm>
          <a:prstGeom prst="ellipse">
            <a:avLst/>
          </a:prstGeom>
          <a:solidFill>
            <a:srgbClr val="3ACB8C"/>
          </a:solidFill>
          <a:ln>
            <a:solidFill>
              <a:srgbClr val="3ACB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680960" y="1929384"/>
            <a:ext cx="41148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1" i="0">
                <a:solidFill>
                  <a:srgbClr val="0E1A30"/>
                </a:solidFill>
                <a:latin typeface="Aptos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80960" y="2395728"/>
            <a:ext cx="160020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 i="0">
                <a:solidFill>
                  <a:srgbClr val="F5F8FC"/>
                </a:solidFill>
                <a:latin typeface="Aptos"/>
              </a:rPr>
              <a:t>EAT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680960" y="2788920"/>
            <a:ext cx="1572768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ACBCD1"/>
                </a:solidFill>
                <a:latin typeface="Aptos"/>
              </a:rPr>
              <a:t>Enter eating state only with both forks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54896" y="2377440"/>
            <a:ext cx="32004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200" b="1" i="0">
                <a:solidFill>
                  <a:srgbClr val="37D3DC"/>
                </a:solidFill>
                <a:latin typeface="Aptos"/>
              </a:rPr>
              <a:t>→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802368" y="1691640"/>
            <a:ext cx="1901952" cy="1828800"/>
          </a:xfrm>
          <a:prstGeom prst="roundRect">
            <a:avLst/>
          </a:prstGeom>
          <a:solidFill>
            <a:srgbClr val="1B2D48"/>
          </a:solidFill>
          <a:ln>
            <a:solidFill>
              <a:srgbClr val="3C53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Oval 30"/>
          <p:cNvSpPr/>
          <p:nvPr/>
        </p:nvSpPr>
        <p:spPr>
          <a:xfrm>
            <a:off x="9948672" y="1847088"/>
            <a:ext cx="411480" cy="411480"/>
          </a:xfrm>
          <a:prstGeom prst="ellipse">
            <a:avLst/>
          </a:prstGeom>
          <a:solidFill>
            <a:srgbClr val="357EE6"/>
          </a:solidFill>
          <a:ln>
            <a:solidFill>
              <a:srgbClr val="357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9948672" y="1929384"/>
            <a:ext cx="41148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1" i="0">
                <a:solidFill>
                  <a:srgbClr val="0E1A30"/>
                </a:solidFill>
                <a:latin typeface="Aptos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948672" y="2395728"/>
            <a:ext cx="160020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 i="0">
                <a:solidFill>
                  <a:srgbClr val="F5F8FC"/>
                </a:solidFill>
                <a:latin typeface="Aptos"/>
              </a:rPr>
              <a:t>RELEASE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948672" y="2788920"/>
            <a:ext cx="1572768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ACBCD1"/>
                </a:solidFill>
                <a:latin typeface="Aptos"/>
              </a:rPr>
              <a:t>Unlock forks and return semaphore permit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31520" y="4069080"/>
            <a:ext cx="10927080" cy="1143000"/>
          </a:xfrm>
          <a:prstGeom prst="roundRect">
            <a:avLst/>
          </a:prstGeom>
          <a:solidFill>
            <a:srgbClr val="162A49"/>
          </a:solidFill>
          <a:ln>
            <a:solidFill>
              <a:srgbClr val="3C53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960120" y="4279392"/>
            <a:ext cx="192024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 i="0">
                <a:solidFill>
                  <a:srgbClr val="37D3DC"/>
                </a:solidFill>
                <a:latin typeface="Aptos"/>
              </a:rPr>
              <a:t>WHY N−1 WORKS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60120" y="4590288"/>
            <a:ext cx="1014984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 i="0">
                <a:solidFill>
                  <a:srgbClr val="F5F8FC"/>
                </a:solidFill>
                <a:latin typeface="Aptos"/>
              </a:rPr>
              <a:t>With five philosophers, only four may compete for forks at once. This breaks circular wait, one of the four necessary deadlock conditions.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49808" y="5623560"/>
            <a:ext cx="105156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 i="0">
                <a:solidFill>
                  <a:srgbClr val="FFBE4B"/>
                </a:solidFill>
                <a:latin typeface="Aptos"/>
              </a:rPr>
              <a:t>Note: deadlock prevention does not automatically guarantee fairness or eliminate starvation.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94360" y="6510528"/>
            <a:ext cx="96012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 i="0">
                <a:solidFill>
                  <a:srgbClr val="ACBCD1"/>
                </a:solidFill>
                <a:latin typeface="Aptos"/>
              </a:rPr>
              <a:t>KLH • Operating Systems and Systems Programming • Section 12 | Team 14</a:t>
            </a:r>
          </a:p>
        </p:txBody>
      </p:sp>
      <p:pic>
        <p:nvPicPr>
          <p:cNvPr id="41" name="Picture 40" descr="MAPS &amp; DIRECTIONS - Best Private University in Telangana ...">
            <a:extLst>
              <a:ext uri="{FF2B5EF4-FFF2-40B4-BE49-F238E27FC236}">
                <a16:creationId xmlns:a16="http://schemas.microsoft.com/office/drawing/2014/main" id="{7B2FB5CB-A4C6-FA2D-1ED6-AA95FB3480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06000" y="0"/>
            <a:ext cx="2286000" cy="14097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1A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92608"/>
            <a:ext cx="77724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 i="0">
                <a:solidFill>
                  <a:srgbClr val="37D3DC"/>
                </a:solidFill>
                <a:latin typeface="Aptos"/>
              </a:rPr>
              <a:t>TECHNOLOGIES &amp; ARCHITECTURE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658368"/>
            <a:ext cx="914400" cy="41148"/>
          </a:xfrm>
          <a:prstGeom prst="rect">
            <a:avLst/>
          </a:prstGeom>
          <a:solidFill>
            <a:srgbClr val="357EE6"/>
          </a:solidFill>
          <a:ln>
            <a:solidFill>
              <a:srgbClr val="357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109960" y="274320"/>
            <a:ext cx="5029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1100" b="1" i="0">
                <a:solidFill>
                  <a:srgbClr val="ACBCD1"/>
                </a:solidFill>
                <a:latin typeface="Aptos"/>
              </a:rPr>
              <a:t>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914400"/>
            <a:ext cx="27432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 i="0">
                <a:solidFill>
                  <a:srgbClr val="37D3DC"/>
                </a:solidFill>
                <a:latin typeface="Aptos"/>
              </a:rPr>
              <a:t>TECH STACK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353312"/>
            <a:ext cx="2606040" cy="1005840"/>
          </a:xfrm>
          <a:prstGeom prst="roundRect">
            <a:avLst/>
          </a:prstGeom>
          <a:solidFill>
            <a:srgbClr val="1B2D48"/>
          </a:solidFill>
          <a:ln>
            <a:solidFill>
              <a:srgbClr val="3C53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85800" y="1353312"/>
            <a:ext cx="64008" cy="1005840"/>
          </a:xfrm>
          <a:prstGeom prst="rect">
            <a:avLst/>
          </a:prstGeom>
          <a:solidFill>
            <a:srgbClr val="357EE6"/>
          </a:solidFill>
          <a:ln>
            <a:solidFill>
              <a:srgbClr val="357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86968" y="1499616"/>
            <a:ext cx="2258568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 i="0">
                <a:solidFill>
                  <a:srgbClr val="F5F8FC"/>
                </a:solidFill>
                <a:latin typeface="Aptos"/>
              </a:rPr>
              <a:t>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1920240"/>
            <a:ext cx="2221992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ACBCD1"/>
                </a:solidFill>
                <a:latin typeface="Aptos"/>
              </a:rPr>
              <a:t>Simulation logic and shared-state management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20440" y="1353312"/>
            <a:ext cx="2606040" cy="1005840"/>
          </a:xfrm>
          <a:prstGeom prst="roundRect">
            <a:avLst/>
          </a:prstGeom>
          <a:solidFill>
            <a:srgbClr val="1B2D48"/>
          </a:solidFill>
          <a:ln>
            <a:solidFill>
              <a:srgbClr val="3C53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520440" y="1353312"/>
            <a:ext cx="64008" cy="1005840"/>
          </a:xfrm>
          <a:prstGeom prst="rect">
            <a:avLst/>
          </a:prstGeom>
          <a:solidFill>
            <a:srgbClr val="37D3DC"/>
          </a:solidFill>
          <a:ln>
            <a:solidFill>
              <a:srgbClr val="37D3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721608" y="1499616"/>
            <a:ext cx="2258568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 i="0">
                <a:solidFill>
                  <a:srgbClr val="F5F8FC"/>
                </a:solidFill>
                <a:latin typeface="Aptos"/>
              </a:rPr>
              <a:t>POSIX pthreads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21608" y="1920240"/>
            <a:ext cx="2221992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ACBCD1"/>
                </a:solidFill>
                <a:latin typeface="Aptos"/>
              </a:rPr>
              <a:t>Concurrent philosopher threads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2615184"/>
            <a:ext cx="2606040" cy="1005840"/>
          </a:xfrm>
          <a:prstGeom prst="roundRect">
            <a:avLst/>
          </a:prstGeom>
          <a:solidFill>
            <a:srgbClr val="1B2D48"/>
          </a:solidFill>
          <a:ln>
            <a:solidFill>
              <a:srgbClr val="3C53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85800" y="2615184"/>
            <a:ext cx="64008" cy="1005840"/>
          </a:xfrm>
          <a:prstGeom prst="rect">
            <a:avLst/>
          </a:prstGeom>
          <a:solidFill>
            <a:srgbClr val="FFBE4B"/>
          </a:solidFill>
          <a:ln>
            <a:solidFill>
              <a:srgbClr val="FFBE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86968" y="2761488"/>
            <a:ext cx="2258568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 i="0">
                <a:solidFill>
                  <a:srgbClr val="F5F8FC"/>
                </a:solidFill>
                <a:latin typeface="Aptos"/>
              </a:rPr>
              <a:t>Mutex locks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6968" y="3182112"/>
            <a:ext cx="2221992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ACBCD1"/>
                </a:solidFill>
                <a:latin typeface="Aptos"/>
              </a:rPr>
              <a:t>Mutual exclusion for each fork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520440" y="2615184"/>
            <a:ext cx="2606040" cy="1005840"/>
          </a:xfrm>
          <a:prstGeom prst="roundRect">
            <a:avLst/>
          </a:prstGeom>
          <a:solidFill>
            <a:srgbClr val="1B2D48"/>
          </a:solidFill>
          <a:ln>
            <a:solidFill>
              <a:srgbClr val="3C53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3520440" y="2615184"/>
            <a:ext cx="64008" cy="1005840"/>
          </a:xfrm>
          <a:prstGeom prst="rect">
            <a:avLst/>
          </a:prstGeom>
          <a:solidFill>
            <a:srgbClr val="3ACB8C"/>
          </a:solidFill>
          <a:ln>
            <a:solidFill>
              <a:srgbClr val="3ACB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3721608" y="2761488"/>
            <a:ext cx="2258568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 i="0">
                <a:solidFill>
                  <a:srgbClr val="F5F8FC"/>
                </a:solidFill>
                <a:latin typeface="Aptos"/>
              </a:rPr>
              <a:t>POSIX semaphore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721608" y="3182112"/>
            <a:ext cx="2221992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ACBCD1"/>
                </a:solidFill>
                <a:latin typeface="Aptos"/>
              </a:rPr>
              <a:t>Limits contenders to N−1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3877056"/>
            <a:ext cx="2606040" cy="1005840"/>
          </a:xfrm>
          <a:prstGeom prst="roundRect">
            <a:avLst/>
          </a:prstGeom>
          <a:solidFill>
            <a:srgbClr val="1B2D48"/>
          </a:solidFill>
          <a:ln>
            <a:solidFill>
              <a:srgbClr val="3C53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85800" y="3877056"/>
            <a:ext cx="64008" cy="1005840"/>
          </a:xfrm>
          <a:prstGeom prst="rect">
            <a:avLst/>
          </a:prstGeom>
          <a:solidFill>
            <a:srgbClr val="357EE6"/>
          </a:solidFill>
          <a:ln>
            <a:solidFill>
              <a:srgbClr val="357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86968" y="4023360"/>
            <a:ext cx="2258568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 i="0">
                <a:solidFill>
                  <a:srgbClr val="F5F8FC"/>
                </a:solidFill>
                <a:latin typeface="Aptos"/>
              </a:rPr>
              <a:t>GCC + Make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6968" y="4443984"/>
            <a:ext cx="2221992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ACBCD1"/>
                </a:solidFill>
                <a:latin typeface="Aptos"/>
              </a:rPr>
              <a:t>Compile and repeatable build commands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520440" y="3877056"/>
            <a:ext cx="2606040" cy="1005840"/>
          </a:xfrm>
          <a:prstGeom prst="roundRect">
            <a:avLst/>
          </a:prstGeom>
          <a:solidFill>
            <a:srgbClr val="1B2D48"/>
          </a:solidFill>
          <a:ln>
            <a:solidFill>
              <a:srgbClr val="3C53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3520440" y="3877056"/>
            <a:ext cx="64008" cy="1005840"/>
          </a:xfrm>
          <a:prstGeom prst="rect">
            <a:avLst/>
          </a:prstGeom>
          <a:solidFill>
            <a:srgbClr val="37D3DC"/>
          </a:solidFill>
          <a:ln>
            <a:solidFill>
              <a:srgbClr val="37D3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3721608" y="4023360"/>
            <a:ext cx="2258568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 i="0">
                <a:solidFill>
                  <a:srgbClr val="F5F8FC"/>
                </a:solidFill>
                <a:latin typeface="Aptos"/>
              </a:rPr>
              <a:t>Ubuntu / WSL + VS Code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721608" y="4443984"/>
            <a:ext cx="2221992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ACBCD1"/>
                </a:solidFill>
                <a:latin typeface="Aptos"/>
              </a:rPr>
              <a:t>Development, execution, and debugging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629400" y="914400"/>
            <a:ext cx="27432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 i="0">
                <a:solidFill>
                  <a:srgbClr val="37D3DC"/>
                </a:solidFill>
                <a:latin typeface="Aptos"/>
              </a:rPr>
              <a:t>SYSTEM FLOW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675120" y="1389888"/>
            <a:ext cx="4389120" cy="512064"/>
          </a:xfrm>
          <a:prstGeom prst="roundRect">
            <a:avLst/>
          </a:prstGeom>
          <a:solidFill>
            <a:srgbClr val="1B2D48"/>
          </a:solidFill>
          <a:ln>
            <a:solidFill>
              <a:srgbClr val="357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903720" y="1517904"/>
            <a:ext cx="393192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 i="0">
                <a:solidFill>
                  <a:srgbClr val="F5F8FC"/>
                </a:solidFill>
                <a:latin typeface="Aptos"/>
              </a:rPr>
              <a:t>User controls / terminal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503920" y="1901952"/>
            <a:ext cx="4572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 i="0">
                <a:solidFill>
                  <a:srgbClr val="37D3DC"/>
                </a:solidFill>
                <a:latin typeface="Aptos"/>
              </a:rPr>
              <a:t>↓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675120" y="2139696"/>
            <a:ext cx="4389120" cy="512064"/>
          </a:xfrm>
          <a:prstGeom prst="roundRect">
            <a:avLst/>
          </a:prstGeom>
          <a:solidFill>
            <a:srgbClr val="1B2D48"/>
          </a:solidFill>
          <a:ln>
            <a:solidFill>
              <a:srgbClr val="37D3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903720" y="2267712"/>
            <a:ext cx="393192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 i="0">
                <a:solidFill>
                  <a:srgbClr val="F5F8FC"/>
                </a:solidFill>
                <a:latin typeface="Aptos"/>
              </a:rPr>
              <a:t>Simulation controller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503920" y="2651760"/>
            <a:ext cx="4572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 i="0">
                <a:solidFill>
                  <a:srgbClr val="37D3DC"/>
                </a:solidFill>
                <a:latin typeface="Aptos"/>
              </a:rPr>
              <a:t>↓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675120" y="2889504"/>
            <a:ext cx="4389120" cy="512064"/>
          </a:xfrm>
          <a:prstGeom prst="roundRect">
            <a:avLst/>
          </a:prstGeom>
          <a:solidFill>
            <a:srgbClr val="1B2D48"/>
          </a:solidFill>
          <a:ln>
            <a:solidFill>
              <a:srgbClr val="3ACB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6903720" y="3017520"/>
            <a:ext cx="393192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 i="0">
                <a:solidFill>
                  <a:srgbClr val="F5F8FC"/>
                </a:solidFill>
                <a:latin typeface="Aptos"/>
              </a:rPr>
              <a:t>C engine + philosopher threads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503920" y="3401568"/>
            <a:ext cx="4572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 i="0">
                <a:solidFill>
                  <a:srgbClr val="37D3DC"/>
                </a:solidFill>
                <a:latin typeface="Aptos"/>
              </a:rPr>
              <a:t>↓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675120" y="3639312"/>
            <a:ext cx="4389120" cy="512064"/>
          </a:xfrm>
          <a:prstGeom prst="roundRect">
            <a:avLst/>
          </a:prstGeom>
          <a:solidFill>
            <a:srgbClr val="1B2D48"/>
          </a:solidFill>
          <a:ln>
            <a:solidFill>
              <a:srgbClr val="FFBE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6903720" y="3767328"/>
            <a:ext cx="393192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 i="0">
                <a:solidFill>
                  <a:srgbClr val="F5F8FC"/>
                </a:solidFill>
                <a:latin typeface="Aptos"/>
              </a:rPr>
              <a:t>Mutexes + semaphore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503920" y="4151376"/>
            <a:ext cx="4572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 i="0">
                <a:solidFill>
                  <a:srgbClr val="37D3DC"/>
                </a:solidFill>
                <a:latin typeface="Aptos"/>
              </a:rPr>
              <a:t>↓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675120" y="4389120"/>
            <a:ext cx="4389120" cy="512064"/>
          </a:xfrm>
          <a:prstGeom prst="roundRect">
            <a:avLst/>
          </a:prstGeom>
          <a:solidFill>
            <a:srgbClr val="1B2D48"/>
          </a:solidFill>
          <a:ln>
            <a:solidFill>
              <a:srgbClr val="357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6903720" y="4517136"/>
            <a:ext cx="393192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 i="0">
                <a:solidFill>
                  <a:srgbClr val="F5F8FC"/>
                </a:solidFill>
                <a:latin typeface="Aptos"/>
              </a:rPr>
              <a:t>Events, statistics, and results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675120" y="5440680"/>
            <a:ext cx="4480560" cy="5943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 i="1">
                <a:solidFill>
                  <a:srgbClr val="ACBCD1"/>
                </a:solidFill>
                <a:latin typeface="Aptos"/>
              </a:rPr>
              <a:t>Keep the C synchronization engine as the source of truth; the UI should display actual logged events.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94360" y="6510528"/>
            <a:ext cx="96012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 i="0">
                <a:solidFill>
                  <a:srgbClr val="ACBCD1"/>
                </a:solidFill>
                <a:latin typeface="Aptos"/>
              </a:rPr>
              <a:t>KLH • Operating Systems and Systems Programming • Section 12 | Team 14</a:t>
            </a:r>
          </a:p>
        </p:txBody>
      </p:sp>
      <p:pic>
        <p:nvPicPr>
          <p:cNvPr id="48" name="Picture 47" descr="MAPS &amp; DIRECTIONS - Best Private University in Telangana ...">
            <a:extLst>
              <a:ext uri="{FF2B5EF4-FFF2-40B4-BE49-F238E27FC236}">
                <a16:creationId xmlns:a16="http://schemas.microsoft.com/office/drawing/2014/main" id="{C0EF66E5-2713-85C1-67CF-4B545E1C11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67544" y="0"/>
            <a:ext cx="2124456" cy="1310081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1A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92608"/>
            <a:ext cx="77724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 i="0">
                <a:solidFill>
                  <a:srgbClr val="37D3DC"/>
                </a:solidFill>
                <a:latin typeface="Aptos"/>
              </a:rPr>
              <a:t>TESTING, VALIDATION &amp; RESULTS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658368"/>
            <a:ext cx="914400" cy="41148"/>
          </a:xfrm>
          <a:prstGeom prst="rect">
            <a:avLst/>
          </a:prstGeom>
          <a:solidFill>
            <a:srgbClr val="357EE6"/>
          </a:solidFill>
          <a:ln>
            <a:solidFill>
              <a:srgbClr val="357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109960" y="274320"/>
            <a:ext cx="5029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1100" b="1" i="0">
                <a:solidFill>
                  <a:srgbClr val="ACBCD1"/>
                </a:solidFill>
                <a:latin typeface="Aptos"/>
              </a:rPr>
              <a:t>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932688"/>
            <a:ext cx="274320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 i="0">
                <a:solidFill>
                  <a:srgbClr val="37D3DC"/>
                </a:solidFill>
                <a:latin typeface="Aptos"/>
              </a:rPr>
              <a:t>VALIDATION PLAN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13232" y="1389888"/>
            <a:ext cx="5577840" cy="713232"/>
          </a:xfrm>
          <a:prstGeom prst="roundRect">
            <a:avLst/>
          </a:prstGeom>
          <a:solidFill>
            <a:srgbClr val="1B2D48"/>
          </a:solidFill>
          <a:ln>
            <a:solidFill>
              <a:srgbClr val="3C53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896112" y="1572768"/>
            <a:ext cx="320040" cy="320040"/>
          </a:xfrm>
          <a:prstGeom prst="ellipse">
            <a:avLst/>
          </a:prstGeom>
          <a:solidFill>
            <a:srgbClr val="357EE6"/>
          </a:solidFill>
          <a:ln>
            <a:solidFill>
              <a:srgbClr val="357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1627632"/>
            <a:ext cx="283464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1" i="0">
                <a:solidFill>
                  <a:srgbClr val="0E1A30"/>
                </a:solidFill>
                <a:latin typeface="Aptos"/>
              </a:rPr>
              <a:t>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89888" y="1499616"/>
            <a:ext cx="18288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 i="0">
                <a:solidFill>
                  <a:srgbClr val="F5F8FC"/>
                </a:solidFill>
                <a:latin typeface="Aptos"/>
              </a:rPr>
              <a:t>Thread completion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46120" y="1508760"/>
            <a:ext cx="278892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ACBCD1"/>
                </a:solidFill>
                <a:latin typeface="Aptos"/>
              </a:rPr>
              <a:t>All philosophers complete configured meal rounds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13232" y="2304288"/>
            <a:ext cx="5577840" cy="713232"/>
          </a:xfrm>
          <a:prstGeom prst="roundRect">
            <a:avLst/>
          </a:prstGeom>
          <a:solidFill>
            <a:srgbClr val="1B2D48"/>
          </a:solidFill>
          <a:ln>
            <a:solidFill>
              <a:srgbClr val="3C53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896112" y="2487168"/>
            <a:ext cx="320040" cy="320040"/>
          </a:xfrm>
          <a:prstGeom prst="ellipse">
            <a:avLst/>
          </a:prstGeom>
          <a:solidFill>
            <a:srgbClr val="3ACB8C"/>
          </a:solidFill>
          <a:ln>
            <a:solidFill>
              <a:srgbClr val="3ACB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14400" y="2542032"/>
            <a:ext cx="283464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1" i="0">
                <a:solidFill>
                  <a:srgbClr val="0E1A30"/>
                </a:solidFill>
                <a:latin typeface="Aptos"/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89888" y="2414016"/>
            <a:ext cx="18288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 i="0">
                <a:solidFill>
                  <a:srgbClr val="F5F8FC"/>
                </a:solidFill>
                <a:latin typeface="Aptos"/>
              </a:rPr>
              <a:t>Mutual exclusion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46120" y="2423160"/>
            <a:ext cx="278892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ACBCD1"/>
                </a:solidFill>
                <a:latin typeface="Aptos"/>
              </a:rPr>
              <a:t>No fork is held by two philosophers simultaneously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13232" y="3218688"/>
            <a:ext cx="5577840" cy="713232"/>
          </a:xfrm>
          <a:prstGeom prst="roundRect">
            <a:avLst/>
          </a:prstGeom>
          <a:solidFill>
            <a:srgbClr val="1B2D48"/>
          </a:solidFill>
          <a:ln>
            <a:solidFill>
              <a:srgbClr val="3C53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896112" y="3401568"/>
            <a:ext cx="320040" cy="320040"/>
          </a:xfrm>
          <a:prstGeom prst="ellipse">
            <a:avLst/>
          </a:prstGeom>
          <a:solidFill>
            <a:srgbClr val="37D3DC"/>
          </a:solidFill>
          <a:ln>
            <a:solidFill>
              <a:srgbClr val="37D3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14400" y="3456432"/>
            <a:ext cx="283464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1" i="0">
                <a:solidFill>
                  <a:srgbClr val="0E1A30"/>
                </a:solidFill>
                <a:latin typeface="Aptos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89888" y="3328416"/>
            <a:ext cx="18288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 i="0">
                <a:solidFill>
                  <a:srgbClr val="F5F8FC"/>
                </a:solidFill>
                <a:latin typeface="Aptos"/>
              </a:rPr>
              <a:t>Deadlock prevention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46120" y="3337560"/>
            <a:ext cx="278892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ACBCD1"/>
                </a:solidFill>
                <a:latin typeface="Aptos"/>
              </a:rPr>
              <a:t>No circular-wait deadlock under N−1 gate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13232" y="4133087"/>
            <a:ext cx="5577840" cy="713232"/>
          </a:xfrm>
          <a:prstGeom prst="roundRect">
            <a:avLst/>
          </a:prstGeom>
          <a:solidFill>
            <a:srgbClr val="1B2D48"/>
          </a:solidFill>
          <a:ln>
            <a:solidFill>
              <a:srgbClr val="3C53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896112" y="4315968"/>
            <a:ext cx="320040" cy="320040"/>
          </a:xfrm>
          <a:prstGeom prst="ellipse">
            <a:avLst/>
          </a:prstGeom>
          <a:solidFill>
            <a:srgbClr val="FFBE4B"/>
          </a:solidFill>
          <a:ln>
            <a:solidFill>
              <a:srgbClr val="FFBE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14400" y="4370831"/>
            <a:ext cx="283464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1" i="0">
                <a:solidFill>
                  <a:srgbClr val="0E1A30"/>
                </a:solidFill>
                <a:latin typeface="Aptos"/>
              </a:rPr>
              <a:t>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89888" y="4242816"/>
            <a:ext cx="18288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 i="0">
                <a:solidFill>
                  <a:srgbClr val="F5F8FC"/>
                </a:solidFill>
                <a:latin typeface="Aptos"/>
              </a:rPr>
              <a:t>Cleanup &amp; repeat runs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46120" y="4251959"/>
            <a:ext cx="278892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ACBCD1"/>
                </a:solidFill>
                <a:latin typeface="Aptos"/>
              </a:rPr>
              <a:t>Locks, semaphore, and threads shut down cleanly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720840" y="1389888"/>
            <a:ext cx="4480560" cy="3566160"/>
          </a:xfrm>
          <a:prstGeom prst="roundRect">
            <a:avLst/>
          </a:prstGeom>
          <a:solidFill>
            <a:srgbClr val="162A49"/>
          </a:solidFill>
          <a:ln>
            <a:solidFill>
              <a:srgbClr val="3C53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995160" y="1664208"/>
            <a:ext cx="384048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 i="0">
                <a:solidFill>
                  <a:srgbClr val="37D3DC"/>
                </a:solidFill>
                <a:latin typeface="Aptos"/>
              </a:rPr>
              <a:t>RESULTS TO CAPTURE DURING DEMO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67728" y="2176272"/>
            <a:ext cx="3794760" cy="2194560"/>
          </a:xfrm>
          <a:prstGeom prst="rect">
            <a:avLst/>
          </a:prstGeom>
          <a:noFill/>
        </p:spPr>
        <p:txBody>
          <a:bodyPr wrap="square" lIns="73152" tIns="54864" rIns="54864" bIns="36576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F5F8FC"/>
                </a:solidFill>
                <a:latin typeface="Aptos"/>
              </a:defRPr>
            </a:pPr>
            <a:r>
              <a:t>•  Terminal log showing THINKING → HUNGRY → EATING</a:t>
            </a:r>
          </a:p>
          <a:p>
            <a:pPr>
              <a:spcAft>
                <a:spcPts val="1000"/>
              </a:spcAft>
              <a:defRPr sz="1300">
                <a:solidFill>
                  <a:srgbClr val="F5F8FC"/>
                </a:solidFill>
                <a:latin typeface="Aptos"/>
              </a:defRPr>
            </a:pPr>
            <a:r>
              <a:t>•  Semaphore permit count never exceeds configured limit</a:t>
            </a:r>
          </a:p>
          <a:p>
            <a:pPr>
              <a:spcAft>
                <a:spcPts val="1000"/>
              </a:spcAft>
              <a:defRPr sz="1300">
                <a:solidFill>
                  <a:srgbClr val="F5F8FC"/>
                </a:solidFill>
                <a:latin typeface="Aptos"/>
              </a:defRPr>
            </a:pPr>
            <a:r>
              <a:t>•  Fork lock/unlock events</a:t>
            </a:r>
          </a:p>
          <a:p>
            <a:pPr>
              <a:spcAft>
                <a:spcPts val="1000"/>
              </a:spcAft>
              <a:defRPr sz="1300">
                <a:solidFill>
                  <a:srgbClr val="F5F8FC"/>
                </a:solidFill>
                <a:latin typeface="Aptos"/>
              </a:defRPr>
            </a:pPr>
            <a:r>
              <a:t>•  Meals completed per philosopher</a:t>
            </a:r>
          </a:p>
          <a:p>
            <a:pPr>
              <a:spcAft>
                <a:spcPts val="1000"/>
              </a:spcAft>
              <a:defRPr sz="1300">
                <a:solidFill>
                  <a:srgbClr val="F5F8FC"/>
                </a:solidFill>
                <a:latin typeface="Aptos"/>
              </a:defRPr>
            </a:pPr>
            <a:r>
              <a:t>•  Repeated run and clean exit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808" y="5532120"/>
            <a:ext cx="1060704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 i="0">
                <a:solidFill>
                  <a:srgbClr val="FFBE4B"/>
                </a:solidFill>
                <a:latin typeface="Aptos"/>
              </a:rPr>
              <a:t>Status: these are validation criteria, not claimed test results. Replace with measured results after running the implementation.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4360" y="6510528"/>
            <a:ext cx="96012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 i="0">
                <a:solidFill>
                  <a:srgbClr val="ACBCD1"/>
                </a:solidFill>
                <a:latin typeface="Aptos"/>
              </a:rPr>
              <a:t>KLH • Operating Systems and Systems Programming • Section 12 | Team 14</a:t>
            </a:r>
          </a:p>
        </p:txBody>
      </p:sp>
      <p:pic>
        <p:nvPicPr>
          <p:cNvPr id="32" name="Picture 31" descr="MAPS &amp; DIRECTIONS - Best Private University in Telangana ...">
            <a:extLst>
              <a:ext uri="{FF2B5EF4-FFF2-40B4-BE49-F238E27FC236}">
                <a16:creationId xmlns:a16="http://schemas.microsoft.com/office/drawing/2014/main" id="{03B138D7-34EA-4E19-1680-59969EA1B5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21824" y="0"/>
            <a:ext cx="2170176" cy="133827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1A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92608"/>
            <a:ext cx="77724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 i="0">
                <a:solidFill>
                  <a:srgbClr val="37D3DC"/>
                </a:solidFill>
                <a:latin typeface="Aptos"/>
              </a:rPr>
              <a:t>IMPACT, LIMITATIONS &amp; FUTURE WORK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658368"/>
            <a:ext cx="914400" cy="41148"/>
          </a:xfrm>
          <a:prstGeom prst="rect">
            <a:avLst/>
          </a:prstGeom>
          <a:solidFill>
            <a:srgbClr val="357EE6"/>
          </a:solidFill>
          <a:ln>
            <a:solidFill>
              <a:srgbClr val="357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109960" y="274320"/>
            <a:ext cx="5029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1100" b="1" i="0">
                <a:solidFill>
                  <a:srgbClr val="ACBCD1"/>
                </a:solidFill>
                <a:latin typeface="Aptos"/>
              </a:rPr>
              <a:t>07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13232" y="1143000"/>
            <a:ext cx="3429000" cy="1417320"/>
          </a:xfrm>
          <a:prstGeom prst="roundRect">
            <a:avLst/>
          </a:prstGeom>
          <a:solidFill>
            <a:srgbClr val="1B2D48"/>
          </a:solidFill>
          <a:ln>
            <a:solidFill>
              <a:srgbClr val="3C53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13232" y="1143000"/>
            <a:ext cx="64008" cy="1417320"/>
          </a:xfrm>
          <a:prstGeom prst="rect">
            <a:avLst/>
          </a:prstGeom>
          <a:solidFill>
            <a:srgbClr val="357EE6"/>
          </a:solidFill>
          <a:ln>
            <a:solidFill>
              <a:srgbClr val="357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1289304"/>
            <a:ext cx="3081528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 i="0">
                <a:solidFill>
                  <a:srgbClr val="F5F8FC"/>
                </a:solidFill>
                <a:latin typeface="Aptos"/>
              </a:rPr>
              <a:t>LEARNING IMPACT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709928"/>
            <a:ext cx="3044952" cy="72237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 i="0">
                <a:solidFill>
                  <a:srgbClr val="ACBCD1"/>
                </a:solidFill>
                <a:latin typeface="Aptos"/>
              </a:rPr>
              <a:t>Makes threads, resource sharing, mutexes, semaphores, and deadlock conditions observable.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70832" y="1143000"/>
            <a:ext cx="3429000" cy="1417320"/>
          </a:xfrm>
          <a:prstGeom prst="roundRect">
            <a:avLst/>
          </a:prstGeom>
          <a:solidFill>
            <a:srgbClr val="1B2D48"/>
          </a:solidFill>
          <a:ln>
            <a:solidFill>
              <a:srgbClr val="3C53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370832" y="1143000"/>
            <a:ext cx="64008" cy="1417320"/>
          </a:xfrm>
          <a:prstGeom prst="rect">
            <a:avLst/>
          </a:prstGeom>
          <a:solidFill>
            <a:srgbClr val="3ACB8C"/>
          </a:solidFill>
          <a:ln>
            <a:solidFill>
              <a:srgbClr val="3ACB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72000" y="1289304"/>
            <a:ext cx="3081528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 i="0">
                <a:solidFill>
                  <a:srgbClr val="F5F8FC"/>
                </a:solidFill>
                <a:latin typeface="Aptos"/>
              </a:rPr>
              <a:t>PRACTICAL VALUE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1709928"/>
            <a:ext cx="3044952" cy="72237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 i="0">
                <a:solidFill>
                  <a:srgbClr val="ACBCD1"/>
                </a:solidFill>
                <a:latin typeface="Aptos"/>
              </a:rPr>
              <a:t>A safe, repeatable lab simulation supports OS coursework and live demonstrations.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28431" y="1143000"/>
            <a:ext cx="3429000" cy="1417320"/>
          </a:xfrm>
          <a:prstGeom prst="roundRect">
            <a:avLst/>
          </a:prstGeom>
          <a:solidFill>
            <a:srgbClr val="1B2D48"/>
          </a:solidFill>
          <a:ln>
            <a:solidFill>
              <a:srgbClr val="3C53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028431" y="1143000"/>
            <a:ext cx="64008" cy="1417320"/>
          </a:xfrm>
          <a:prstGeom prst="rect">
            <a:avLst/>
          </a:prstGeom>
          <a:solidFill>
            <a:srgbClr val="37D3DC"/>
          </a:solidFill>
          <a:ln>
            <a:solidFill>
              <a:srgbClr val="37D3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29600" y="1289304"/>
            <a:ext cx="3081528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 i="0">
                <a:solidFill>
                  <a:srgbClr val="F5F8FC"/>
                </a:solidFill>
                <a:latin typeface="Aptos"/>
              </a:rPr>
              <a:t>RESPONSIBLE DESIGN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0" y="1709928"/>
            <a:ext cx="3044952" cy="72237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 i="0">
                <a:solidFill>
                  <a:srgbClr val="ACBCD1"/>
                </a:solidFill>
                <a:latin typeface="Aptos"/>
              </a:rPr>
              <a:t>Controlled unsafe-mode demo avoids freezing the UI or affecting unrelated processes.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3063240"/>
            <a:ext cx="292608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 i="0">
                <a:solidFill>
                  <a:srgbClr val="FFBE4B"/>
                </a:solidFill>
                <a:latin typeface="Aptos"/>
              </a:rPr>
              <a:t>LIMITATIONS TO EXPLAIN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9808" y="3456432"/>
            <a:ext cx="5120640" cy="1828800"/>
          </a:xfrm>
          <a:prstGeom prst="rect">
            <a:avLst/>
          </a:prstGeom>
          <a:noFill/>
        </p:spPr>
        <p:txBody>
          <a:bodyPr wrap="square" lIns="73152" tIns="54864" rIns="54864" bIns="36576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ACBCD1"/>
                </a:solidFill>
                <a:latin typeface="Aptos"/>
              </a:defRPr>
            </a:pPr>
            <a:r>
              <a:t>•  N−1 semaphore prevents deadlock but does not guarantee fairness.</a:t>
            </a:r>
          </a:p>
          <a:p>
            <a:pPr>
              <a:spcAft>
                <a:spcPts val="800"/>
              </a:spcAft>
              <a:defRPr sz="1400">
                <a:solidFill>
                  <a:srgbClr val="ACBCD1"/>
                </a:solidFill>
                <a:latin typeface="Aptos"/>
              </a:defRPr>
            </a:pPr>
            <a:r>
              <a:t>•  Scheduling order and wait time vary across runs.</a:t>
            </a:r>
          </a:p>
          <a:p>
            <a:pPr>
              <a:spcAft>
                <a:spcPts val="800"/>
              </a:spcAft>
              <a:defRPr sz="1400">
                <a:solidFill>
                  <a:srgbClr val="ACBCD1"/>
                </a:solidFill>
                <a:latin typeface="Aptos"/>
              </a:defRPr>
            </a:pPr>
            <a:r>
              <a:t>•  Statistics must be collected from actual events.</a:t>
            </a:r>
          </a:p>
          <a:p>
            <a:pPr>
              <a:spcAft>
                <a:spcPts val="800"/>
              </a:spcAft>
              <a:defRPr sz="1400">
                <a:solidFill>
                  <a:srgbClr val="ACBCD1"/>
                </a:solidFill>
                <a:latin typeface="Aptos"/>
              </a:defRPr>
            </a:pPr>
            <a:r>
              <a:t>•  Unsafe deadlock mode should be isolated or simulated logically.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0" y="3063240"/>
            <a:ext cx="292608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 i="0">
                <a:solidFill>
                  <a:srgbClr val="37D3DC"/>
                </a:solidFill>
                <a:latin typeface="Aptos"/>
              </a:rPr>
              <a:t>FUTURE ENHANCEMENTS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36208" y="3456432"/>
            <a:ext cx="5120640" cy="1828800"/>
          </a:xfrm>
          <a:prstGeom prst="rect">
            <a:avLst/>
          </a:prstGeom>
          <a:noFill/>
        </p:spPr>
        <p:txBody>
          <a:bodyPr wrap="square" lIns="73152" tIns="54864" rIns="54864" bIns="36576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ACBCD1"/>
                </a:solidFill>
                <a:latin typeface="Aptos"/>
              </a:defRPr>
            </a:pPr>
            <a:r>
              <a:t>•  Compare N−1 gate with resource ordering and waiter strategies.</a:t>
            </a:r>
          </a:p>
          <a:p>
            <a:pPr>
              <a:spcAft>
                <a:spcPts val="800"/>
              </a:spcAft>
              <a:defRPr sz="1400">
                <a:solidFill>
                  <a:srgbClr val="ACBCD1"/>
                </a:solidFill>
                <a:latin typeface="Aptos"/>
              </a:defRPr>
            </a:pPr>
            <a:r>
              <a:t>•  Add event replay, timeline filters, and exportable logs.</a:t>
            </a:r>
          </a:p>
          <a:p>
            <a:pPr>
              <a:spcAft>
                <a:spcPts val="800"/>
              </a:spcAft>
              <a:defRPr sz="1400">
                <a:solidFill>
                  <a:srgbClr val="ACBCD1"/>
                </a:solidFill>
                <a:latin typeface="Aptos"/>
              </a:defRPr>
            </a:pPr>
            <a:r>
              <a:t>•  Measure fairness and waiting-time distribution.</a:t>
            </a:r>
          </a:p>
          <a:p>
            <a:pPr>
              <a:spcAft>
                <a:spcPts val="800"/>
              </a:spcAft>
              <a:defRPr sz="1400">
                <a:solidFill>
                  <a:srgbClr val="ACBCD1"/>
                </a:solidFill>
                <a:latin typeface="Aptos"/>
              </a:defRPr>
            </a:pPr>
            <a:r>
              <a:t>•  Add automated stress tests for different philosopher counts.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6510528"/>
            <a:ext cx="96012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 i="0">
                <a:solidFill>
                  <a:srgbClr val="ACBCD1"/>
                </a:solidFill>
                <a:latin typeface="Aptos"/>
              </a:rPr>
              <a:t>KLH • Operating Systems and Systems Programming • Section 12 | Team 14</a:t>
            </a:r>
          </a:p>
        </p:txBody>
      </p:sp>
      <p:pic>
        <p:nvPicPr>
          <p:cNvPr id="23" name="Picture 22" descr="MAPS &amp; DIRECTIONS - Best Private University in Telangana ...">
            <a:extLst>
              <a:ext uri="{FF2B5EF4-FFF2-40B4-BE49-F238E27FC236}">
                <a16:creationId xmlns:a16="http://schemas.microsoft.com/office/drawing/2014/main" id="{3D6BF215-19D1-CBAD-5BB8-4E6107FBCA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87584" y="0"/>
            <a:ext cx="1804416" cy="1112723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1A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92608"/>
            <a:ext cx="77724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 i="0">
                <a:solidFill>
                  <a:srgbClr val="37D3DC"/>
                </a:solidFill>
                <a:latin typeface="Aptos"/>
              </a:rPr>
              <a:t>CONCLUSION &amp; LIVE DEMO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658368"/>
            <a:ext cx="914400" cy="41148"/>
          </a:xfrm>
          <a:prstGeom prst="rect">
            <a:avLst/>
          </a:prstGeom>
          <a:solidFill>
            <a:srgbClr val="357EE6"/>
          </a:solidFill>
          <a:ln>
            <a:solidFill>
              <a:srgbClr val="357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109960" y="274320"/>
            <a:ext cx="5029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1100" b="1" i="0">
                <a:solidFill>
                  <a:srgbClr val="ACBCD1"/>
                </a:solidFill>
                <a:latin typeface="Aptos"/>
              </a:rPr>
              <a:t>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05840"/>
            <a:ext cx="10607040" cy="5943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 i="0">
                <a:solidFill>
                  <a:srgbClr val="F5F8FC"/>
                </a:solidFill>
                <a:latin typeface="Aptos"/>
              </a:rPr>
              <a:t>SAFE RESOURCE SHARING, MADE VISIBLE.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1755648"/>
            <a:ext cx="9875520" cy="5486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 i="0">
                <a:solidFill>
                  <a:srgbClr val="ACBCD1"/>
                </a:solidFill>
                <a:latin typeface="Aptos"/>
              </a:rPr>
              <a:t>The project demonstrates how a small synchronization rule can prevent deadlock in a concurrent system.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9808" y="2743200"/>
            <a:ext cx="5029200" cy="2011680"/>
          </a:xfrm>
          <a:prstGeom prst="roundRect">
            <a:avLst/>
          </a:prstGeom>
          <a:solidFill>
            <a:srgbClr val="1B2D48"/>
          </a:solidFill>
          <a:ln>
            <a:solidFill>
              <a:srgbClr val="3C53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24128" y="2999232"/>
            <a:ext cx="43891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 i="0">
                <a:solidFill>
                  <a:srgbClr val="37D3DC"/>
                </a:solidFill>
                <a:latin typeface="Aptos"/>
              </a:rPr>
              <a:t>LIVE DEMONSTRATION PLAN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401568"/>
            <a:ext cx="4389120" cy="1143000"/>
          </a:xfrm>
          <a:prstGeom prst="rect">
            <a:avLst/>
          </a:prstGeom>
          <a:noFill/>
        </p:spPr>
        <p:txBody>
          <a:bodyPr wrap="square" lIns="73152" tIns="54864" rIns="54864" bIns="36576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F5F8FC"/>
                </a:solidFill>
                <a:latin typeface="Aptos"/>
              </a:defRPr>
            </a:pPr>
            <a:r>
              <a:t>•  Compile and start the simulation.</a:t>
            </a:r>
          </a:p>
          <a:p>
            <a:pPr>
              <a:spcAft>
                <a:spcPts val="600"/>
              </a:spcAft>
              <a:defRPr sz="1400">
                <a:solidFill>
                  <a:srgbClr val="F5F8FC"/>
                </a:solidFill>
                <a:latin typeface="Aptos"/>
              </a:defRPr>
            </a:pPr>
            <a:r>
              <a:t>•  Show philosophers and fork states.</a:t>
            </a:r>
          </a:p>
          <a:p>
            <a:pPr>
              <a:spcAft>
                <a:spcPts val="600"/>
              </a:spcAft>
              <a:defRPr sz="1400">
                <a:solidFill>
                  <a:srgbClr val="F5F8FC"/>
                </a:solidFill>
                <a:latin typeface="Aptos"/>
              </a:defRPr>
            </a:pPr>
            <a:r>
              <a:t>•  Point out semaphore and mutex events.</a:t>
            </a:r>
          </a:p>
          <a:p>
            <a:pPr>
              <a:spcAft>
                <a:spcPts val="600"/>
              </a:spcAft>
              <a:defRPr sz="1400">
                <a:solidFill>
                  <a:srgbClr val="F5F8FC"/>
                </a:solidFill>
                <a:latin typeface="Aptos"/>
              </a:defRPr>
            </a:pPr>
            <a:r>
              <a:t>•  Run multiple rounds and exit cleanly.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2743200"/>
            <a:ext cx="5029200" cy="2011680"/>
          </a:xfrm>
          <a:prstGeom prst="roundRect">
            <a:avLst/>
          </a:prstGeom>
          <a:solidFill>
            <a:srgbClr val="162A49"/>
          </a:solidFill>
          <a:ln>
            <a:solidFill>
              <a:srgbClr val="3C53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46520" y="2999232"/>
            <a:ext cx="43891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 i="0">
                <a:solidFill>
                  <a:srgbClr val="3ACB8C"/>
                </a:solidFill>
                <a:latin typeface="Aptos"/>
              </a:rPr>
              <a:t>TAKEAWAY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46520" y="3456432"/>
            <a:ext cx="4343400" cy="8229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900" b="1" i="0">
                <a:solidFill>
                  <a:srgbClr val="F5F8FC"/>
                </a:solidFill>
                <a:latin typeface="Aptos"/>
              </a:rPr>
              <a:t>Prevent circular wait • Protect each fork • Validate with real execution logs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9808" y="5577840"/>
            <a:ext cx="274320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400" b="1" i="0">
                <a:solidFill>
                  <a:srgbClr val="37D3DC"/>
                </a:solidFill>
                <a:latin typeface="Aptos"/>
              </a:rPr>
              <a:t>THANK YOU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6510528"/>
            <a:ext cx="96012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 i="0">
                <a:solidFill>
                  <a:srgbClr val="ACBCD1"/>
                </a:solidFill>
                <a:latin typeface="Aptos"/>
              </a:rPr>
              <a:t>KLH • Operating Systems and Systems Programming • Section 12 | Team 14</a:t>
            </a:r>
          </a:p>
        </p:txBody>
      </p:sp>
      <p:pic>
        <p:nvPicPr>
          <p:cNvPr id="16" name="Picture 15" descr="MAPS &amp; DIRECTIONS - Best Private University in Telangana ...">
            <a:extLst>
              <a:ext uri="{FF2B5EF4-FFF2-40B4-BE49-F238E27FC236}">
                <a16:creationId xmlns:a16="http://schemas.microsoft.com/office/drawing/2014/main" id="{FC6FF869-073B-4097-4C1C-B298720D1F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06000" y="0"/>
            <a:ext cx="2286000" cy="14097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1123</Words>
  <Application>Microsoft Office PowerPoint</Application>
  <PresentationFormat>Widescreen</PresentationFormat>
  <Paragraphs>164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sai nath reddy</cp:lastModifiedBy>
  <cp:revision>3</cp:revision>
  <dcterms:created xsi:type="dcterms:W3CDTF">2013-01-27T09:14:16Z</dcterms:created>
  <dcterms:modified xsi:type="dcterms:W3CDTF">2026-10-17T05:18:09Z</dcterms:modified>
  <cp:category/>
</cp:coreProperties>
</file>